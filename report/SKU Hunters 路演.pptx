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3" r:id="rId14"/>
    <p:sldId id="265" r:id="rId15"/>
    <p:sldId id="274" r:id="rId16"/>
    <p:sldId id="267" r:id="rId17"/>
    <p:sldId id="275" r:id="rId18"/>
    <p:sldId id="269" r:id="rId19"/>
    <p:sldId id="270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64" userDrawn="1">
          <p15:clr>
            <a:srgbClr val="747775"/>
          </p15:clr>
        </p15:guide>
        <p15:guide id="2" pos="291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64"/>
        <p:guide pos="291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各位评委好，我们是来自南京大学飞行社的 SKU Hunters，带来一间 AI 新品企划工作室。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今天只想讲清楚一件事：怎么把一个爆款，从押注，变成可以一步步推演的决策。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先看名创正在面对的生意：一年上新数千款，乐园店里 IP 产品占到九成，全球门店超过八千五百家，这是一台高速运转的上新机器。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但这台机器有一个生死命题——命中率。一个 SKU 押错，浪费的不只是开发费，还有整条供应链的档期、库存和货架。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而今天，下一款做什么、给谁做、卖多少钱，仍主要依赖买手和企划的经验与感觉。名创缺的从来不是创意，是把创意变成可验证决策的工具。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我们把一位品类研发的一天拆开：早上在五六个平台之间来回刷，中午手工拼凑零散信息，下午还要对接供应商、核成本、提设计工单，一个人干了调研、研发、供应链三份活。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这条链路断在三处：信息散、判断靠感觉、出方案太慢。经验装在个人脑子里，人走经验就走。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所以这本质上不是创意问题，是决策问题。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于是我们做了一个反直觉的决定：不让 AI 先写创意，让 AI 先举证。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传统路径是刷帖、凭经验拍方向、再手工写方案；我们反过来，先让五路证据并行采集、交叉评分，先建一个机会池，人选定方向之后才生成创意。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区别在于：不是 AI 觉得好，而是五路证据交叉验证，这个方向排前三。AI 在这里是一台做决策的商品机会引擎，不是写稿助手。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这台引擎分四层。最底下是多元数据底座，社媒、评论、竞品、内部数据、IP 库全部接入；往上是 Agent 协同层，六个 AI 角色像真实买手团队开圆桌会议。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再往上是决策引擎，置信度评分、毛利红线、状态机三道闸；最上面是反馈学习层，审阅、归档、资产回流，不断校准模型。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而这四层全部通过飞书机器人趋势官2的长连接，搬进企划每天都在用的群聊里，不用学新工具。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我不逐页讲功能，直接跟一个真实跑通的风扇 SKU 走完全程，五个节点：输入约束、五路证据、机会三卡、企划卡过红线、云文档审阅后归档。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先如实交代数据口径：系统对风扇大类做真实扫描，企划师选定 78% 的静音桌面方向，再融入名创自有 IP · YOYO，最终产出已归档的企划卡。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这是品类机会扫描、选定方向、落到具体 SKU 的自然收敛，同一条数据链路。我们一个个看结果。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第一步是输入，但这不是填表单，是把生意规则在生成之前就注入给 AI：价格带、成本上限、毛利红线、IP 属性、产品形态，30 秒设完，先画边界再创作。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输完系统自动跑五路证据：趋势、用户原声、竞品空位、名创内部数据、流行元素板。这次演示实时读取飞书 Base 明细 22 条，全品类累计约 130 条社媒证据、104 张竞品图。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我们立了条规矩：数据不足就标不知道，绝不造数据，价格缺失的商品直接标待核验，不硬凑。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第二个结果，洞察驾驶舱。用户在抱怨什么、趋势信号多强、季节窗口在哪，全部收敛到一页，每条都能点开看原始原声和来源链接。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比如它直接给出风扇的上市节奏：三到四月预热、五到六月爆发、七到八月旺季、九到十月清仓。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还捞出了 IP 情绪价值驱动放量的证据：三丽鸥库洛米挂脖多款在售，迪士尼授权儿童风扇市占约 14.1%、原神联名款客单价 298 元。这就是先举证的那个证。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第三，竞品不是一行行文字，而是一整块图板：这次读了 36 条商品级竞品，32 条价格完整进入图板，4 条缺价标待核验。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右边是系统按 32 条有效标价现算的价格带分布：0 到 50 元占约 41%，150 元以上占约 28%，而 50 到 100 元这个中端带、尤其是桌面静音场景明显偏薄。另有 4 条缺价商品标待核验，不硬凑、不进占比。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空位不是我们猜的，是数据指出来的。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这是五步主线之外的一个番外，回答一个尖锐问题：遇到数据库里没有的新品类怎么办？我们的答案是绝不硬编。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第一步，在群里 @机器人说要做一个 Base 里没有的品类，比如帽子，它不会凭空编数据，而是把这个品类登记进调研需求池、状态标待调研，本次任务暂停，群里给你明确回执。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飞书的豆包工作伙伴订阅了这张需求池、定时巡检，自动去采集趋势、痛点、竞品和热词，写入明细、竞品、汇总三张表，全程不用人盯；日志里能看到钥匙扣、帆布袋已经采集完成，帽子被自动认领、正在调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第三步，数据回填到策展多维表，明细表已经沉淀了八千多条带来源的记录；下次再在群里发起，就能基于真实数据走完五看和企划。系统因此越跑越全、越跑越准。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第四，机会池收敛成卡片，每张卡回答为什么值得做、怎么做，并带一个置信度：85 的户外挂脖、82 的手持七夕礼盒、78 的静音桌面，还有一个 70 的太阳能风扇帽。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置信度是五路证据加权算出来的：单条信号撑死 70 分，必须多路证据交叉才能到 85，每条依据都能回溯。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但请特别注意，系统只给方向和排序，选择权始终在人手里，绝不全自动。这一次，企划师选定的是 78% 的静音桌面方向。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第五步，选定方向、融入名创自有 IP · YOYO，系统直接产出一张能评审、能立项的完整企划卡。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它不是一段文字，而是六个结构化模块：市场机会、商品定位、产品概念、商品规格、商业模型、增长路线，每一块都由前面四步的真实证据支撑、可以回溯，评审时点开就是依据。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右边的概念图由即梦分钟级生成，替代过去三到五天的设计工单；同一张图同时进飞书云文档和企划卡，所以网页工作台和飞书群拿到的是完全一致的最终产物。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到这里，从群里一句需求，到一张可立项的企划卡，全流程在飞书里闭环。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这一页是我们和飞书的深度集成：整套链路不长在新系统里，就长在大家每天都在用的飞书群和云文档里。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第一步，在群里 @ 趋势官2，一句话说清品类和想法就能发起，只有 @ 它才响应；信息不全，它会发表单让你补全必填项，不盲目开跑，左边就是真实的群聊记录和机会方向选择卡片。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第二步，五看驾驶舱、企划案、概念图自动汇成一篇完整云文档发回群里，大家直接在文档里确认、改稿，不用在多个页面之间来回跳。证据、机会、企划全程留痕、可复盘、可复用，而且不用学任何新工具。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这一页把我们用到的飞书能力一次讲清，一共五个原生能力，全部在代码里真实调用，不是概念。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第一是飞书多维表格，它是数据底座，策展数据、竞品、IP 资源库实时读取，归档和调研需求自动写入；第二是自建机器人加 WebSocket 长连接，后端主动连飞书，群里 @ 就响应，不需要公网地址和内网穿透。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 Card 2.0 消息卡片，表单、下拉、按钮让卡片直接成为操作台；第四是飞书云文档，五看驾驶舱、企划案、概念图自动汇成在线文档回群审阅；第五是多维表格加飞书智能伙伴，新品类进需求池后自动调研回填，形成自学习飞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右下角留了开放平台长连接与权限配置页的截图位，演示前替换成真实后台截图。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看一组真实对比：调研，过去光刷帖就要三天，现在分钟级；概念图，过去等设计工单三到五天，现在分钟级；一份完整企划，过去以周计，现在分钟级产出六个模块并自动过红线。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更重要的是资产：已经真实归档 18 个案子、跑通四个品类、沉淀 52 条 IP，经验不再随人走。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我必须诚实地说，爆品命中率提升是我们的核心目标，不是已经宣称的结果，归档内置了复用追踪，试点会用名创真实数据持续校准，这个数字我们不提前吹。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为什么这件事最该在名创做成？名创是高频上新、海量 SKU 的买手制，正需要机会引擎给买手补精力。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名创在向全球 IP 运营平台转型，YOYO 九个月做到三个亿、乐园店九成是 IP，IP 匹配正是我们的核心环节；全球八千多家门店本身就是新品最好的测试场。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而且名创已经用飞书多维表格做出 AI 巡店，整改闭环率从 6% 提到 94%、效率提升 51 倍。我们做的，是把名创已经验证过的低成本工具重构流程的范式，从门店运营迁移到新品开发，技术栈也直接对齐 AI 创新部。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最后我想用一句话收尾：我们想做的，是把打造爆款这件事，从「押注」，变成「推演」。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让每一个创意都有据可依，让每一次成败都可以复盘，让买手的经验真正长在组织里，而不是装在某个人的脑子里。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我们是南京大学飞行社，谢谢各位评委。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11.svg"/><Relationship Id="rId25" Type="http://schemas.openxmlformats.org/officeDocument/2006/relationships/image" Target="../media/image10.png"/><Relationship Id="rId24" Type="http://schemas.openxmlformats.org/officeDocument/2006/relationships/tags" Target="../tags/tag38.xml"/><Relationship Id="rId23" Type="http://schemas.openxmlformats.org/officeDocument/2006/relationships/tags" Target="../tags/tag37.xml"/><Relationship Id="rId22" Type="http://schemas.openxmlformats.org/officeDocument/2006/relationships/image" Target="../media/image9.svg"/><Relationship Id="rId21" Type="http://schemas.openxmlformats.org/officeDocument/2006/relationships/image" Target="../media/image8.png"/><Relationship Id="rId20" Type="http://schemas.openxmlformats.org/officeDocument/2006/relationships/tags" Target="../tags/tag36.xml"/><Relationship Id="rId2" Type="http://schemas.openxmlformats.org/officeDocument/2006/relationships/tags" Target="../tags/tag24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30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image" Target="../media/image16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image" Target="../media/image18.png"/><Relationship Id="rId2" Type="http://schemas.openxmlformats.org/officeDocument/2006/relationships/tags" Target="../tags/tag84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image" Target="../media/image17.png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../media/image20.png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21.png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image" Target="../media/image25.svg"/><Relationship Id="rId47" Type="http://schemas.openxmlformats.org/officeDocument/2006/relationships/notesSlide" Target="../notesSlides/notesSlide14.xml"/><Relationship Id="rId46" Type="http://schemas.openxmlformats.org/officeDocument/2006/relationships/slideLayout" Target="../slideLayouts/slideLayout12.xml"/><Relationship Id="rId45" Type="http://schemas.openxmlformats.org/officeDocument/2006/relationships/tags" Target="../tags/tag151.xml"/><Relationship Id="rId44" Type="http://schemas.openxmlformats.org/officeDocument/2006/relationships/tags" Target="../tags/tag150.xml"/><Relationship Id="rId43" Type="http://schemas.openxmlformats.org/officeDocument/2006/relationships/tags" Target="../tags/tag149.xml"/><Relationship Id="rId42" Type="http://schemas.openxmlformats.org/officeDocument/2006/relationships/tags" Target="../tags/tag148.xml"/><Relationship Id="rId41" Type="http://schemas.openxmlformats.org/officeDocument/2006/relationships/image" Target="../media/image32.svg"/><Relationship Id="rId40" Type="http://schemas.openxmlformats.org/officeDocument/2006/relationships/image" Target="../media/image31.png"/><Relationship Id="rId4" Type="http://schemas.openxmlformats.org/officeDocument/2006/relationships/image" Target="../media/image24.png"/><Relationship Id="rId39" Type="http://schemas.openxmlformats.org/officeDocument/2006/relationships/tags" Target="../tags/tag147.xml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image" Target="../media/image30.svg"/><Relationship Id="rId31" Type="http://schemas.openxmlformats.org/officeDocument/2006/relationships/image" Target="../media/image29.png"/><Relationship Id="rId30" Type="http://schemas.openxmlformats.org/officeDocument/2006/relationships/tags" Target="../tags/tag140.xml"/><Relationship Id="rId3" Type="http://schemas.openxmlformats.org/officeDocument/2006/relationships/tags" Target="../tags/tag119.xml"/><Relationship Id="rId29" Type="http://schemas.openxmlformats.org/officeDocument/2006/relationships/tags" Target="../tags/tag139.xml"/><Relationship Id="rId28" Type="http://schemas.openxmlformats.org/officeDocument/2006/relationships/tags" Target="../tags/tag138.xml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tags" Target="../tags/tag135.xml"/><Relationship Id="rId24" Type="http://schemas.openxmlformats.org/officeDocument/2006/relationships/tags" Target="../tags/tag134.xml"/><Relationship Id="rId23" Type="http://schemas.openxmlformats.org/officeDocument/2006/relationships/image" Target="../media/image28.svg"/><Relationship Id="rId22" Type="http://schemas.openxmlformats.org/officeDocument/2006/relationships/image" Target="../media/image27.png"/><Relationship Id="rId21" Type="http://schemas.openxmlformats.org/officeDocument/2006/relationships/tags" Target="../tags/tag133.xml"/><Relationship Id="rId20" Type="http://schemas.openxmlformats.org/officeDocument/2006/relationships/tags" Target="../tags/tag132.xml"/><Relationship Id="rId2" Type="http://schemas.openxmlformats.org/officeDocument/2006/relationships/tags" Target="../tags/tag118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image" Target="../media/image11.svg"/><Relationship Id="rId13" Type="http://schemas.openxmlformats.org/officeDocument/2006/relationships/image" Target="../media/image26.png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3.jpeg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tags" Target="../tags/tag1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87400" y="11684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AI 先锋未来人才大赛 · 名创优品赛题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2260600"/>
            <a:ext cx="5461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11D1A"/>
                </a:solidFill>
                <a:latin typeface="Montserrat"/>
                <a:ea typeface="Montserrat"/>
                <a:cs typeface="Montserrat"/>
                <a:sym typeface="Montserrat"/>
              </a:rPr>
              <a:t>SKU HUNTERS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87400" y="32512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新品企划工作室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3">
            <a:off x="787436" y="3956050"/>
            <a:ext cx="111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4292600"/>
            <a:ext cx="5334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把爆款，从「</a:t>
            </a:r>
            <a:r>
              <a:rPr lang="en-US" sz="3000" b="1" i="0" u="none" strike="sngStrike">
                <a:solidFill>
                  <a:srgbClr val="9C9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押注</a:t>
            </a: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变成「</a:t>
            </a:r>
            <a:r>
              <a:rPr lang="en-US" sz="30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推演</a:t>
            </a: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30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87400" y="6146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任星玥</a:t>
            </a:r>
            <a:r>
              <a:rPr lang="en-US" altLang="zh-CN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</a:t>
            </a:r>
            <a:r>
              <a:rPr lang="zh-CN" altLang="en-US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王庄重</a:t>
            </a:r>
            <a:r>
              <a:rPr lang="en-US" altLang="zh-CN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</a:t>
            </a:r>
            <a:r>
              <a:rPr lang="zh-CN" altLang="en-US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葛绍杰</a:t>
            </a:r>
            <a:r>
              <a:rPr lang="en-US" sz="1300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|       </a:t>
            </a:r>
            <a:r>
              <a:rPr lang="zh-CN" altLang="en-US" sz="1300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南京大学</a:t>
            </a:r>
            <a:r>
              <a:rPr lang="en-US" sz="13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|　2026 年 9 月</a:t>
            </a:r>
            <a:endParaRPr lang="en-US" sz="1100"/>
          </a:p>
        </p:txBody>
      </p:sp>
    </p:spTree>
  </p:cSld>
  <p:clrMapOvr>
    <a:masterClrMapping/>
  </p:clrMapOvr>
  <p:transition advTm="1300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6600"/>
            <a:ext cx="50800" cy="3302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" y="736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名创的命题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高频上新，是增长引擎，也是企划的极限挑战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542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名创是一台高速运转的上新机器，而每一个新品决策，</a:t>
            </a:r>
            <a:r>
              <a:rPr lang="zh-CN" altLang="en-US" sz="15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都是一次真金白银的押注</a:t>
            </a:r>
            <a:endParaRPr lang="zh-CN" altLang="en-US" sz="15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609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4092">
            <a:off x="762004" y="403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57030">
            <a:off x="3810000" y="33210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357030">
            <a:off x="7366000" y="33210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9210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数千款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每年的新品量级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9210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90%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683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乐园店</a:t>
            </a:r>
            <a:r>
              <a:rPr 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产品占比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921000"/>
            <a:ext cx="304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8,565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683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全球门店数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4704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真正的挑战：</a:t>
            </a:r>
            <a:endParaRPr lang="zh-CN" altLang="en-US" sz="20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94030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「下一款做什么、给谁、卖多少钱」</a:t>
            </a:r>
            <a:r>
              <a:rPr lang="en-US" sz="2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，仍靠</a:t>
            </a:r>
            <a:r>
              <a:rPr lang="zh-CN" altLang="en-US" sz="2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企划团队</a:t>
            </a:r>
            <a:r>
              <a:rPr lang="en-US" sz="2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的经验与感觉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6642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 SKU 押错，连锁浪费的是开发费用、供应链档期、库存与黄金货架</a:t>
            </a:r>
            <a:endParaRPr lang="en-US" sz="1100"/>
          </a:p>
        </p:txBody>
      </p:sp>
    </p:spTree>
  </p:cSld>
  <p:clrMapOvr>
    <a:masterClrMapping/>
  </p:clrMapOvr>
  <p:transition advTm="2917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6600"/>
            <a:ext cx="50800" cy="3302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" y="736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企划的一天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一位</a:t>
            </a:r>
            <a:r>
              <a:rPr lang="zh-CN" alt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企划师</a:t>
            </a: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的一天，被三件事卡住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774">
            <a:off x="1524004" y="23558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803400" y="2260600"/>
            <a:ext cx="203200" cy="203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994400" y="2260600"/>
            <a:ext cx="203200" cy="2032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85400" y="2260600"/>
            <a:ext cx="203200" cy="203200"/>
          </a:xfrm>
          <a:prstGeom prst="ellipse">
            <a:avLst/>
          </a:prstGeom>
          <a:solidFill>
            <a:srgbClr val="211D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854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早上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53000" y="1854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0" y="1854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" y="2641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在小红书、淘宝、评论区、设计网站、内部数据间来回刷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02200" y="2641600"/>
            <a:ext cx="2387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手工搬运、拼凑零散信息，形成主观判断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42400" y="2641600"/>
            <a:ext cx="2489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对接供应商、核成本、提设计工单，</a:t>
            </a: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身兼数职</a:t>
            </a:r>
            <a:endParaRPr lang="zh-CN" alt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375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>
            <p:custDataLst>
              <p:tags r:id="rId1"/>
            </p:custDataLst>
          </p:nvPr>
        </p:nvCxnSpPr>
        <p:spPr>
          <a:xfrm rot="-4092">
            <a:off x="762004" y="446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>
            <p:custDataLst>
              <p:tags r:id="rId2"/>
            </p:custDataLst>
          </p:nvPr>
        </p:nvCxnSpPr>
        <p:spPr>
          <a:xfrm rot="-4092">
            <a:off x="762004" y="5175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Connector 18"/>
          <p:cNvCxnSpPr/>
          <p:nvPr/>
        </p:nvCxnSpPr>
        <p:spPr>
          <a:xfrm rot="-4092">
            <a:off x="762004" y="588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3"/>
            </p:custDataLst>
          </p:nvPr>
        </p:nvSpPr>
        <p:spPr>
          <a:xfrm>
            <a:off x="914400" y="38862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4"/>
            </p:custDataLst>
          </p:nvPr>
        </p:nvSpPr>
        <p:spPr>
          <a:xfrm>
            <a:off x="1905000" y="38862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信息散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5"/>
            </p:custDataLst>
          </p:nvPr>
        </p:nvSpPr>
        <p:spPr>
          <a:xfrm>
            <a:off x="3683000" y="39116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趋势、原声、竞品、IP 散落在五六个平台，全靠人工搬运汇总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6"/>
            </p:custDataLst>
          </p:nvPr>
        </p:nvSpPr>
        <p:spPr>
          <a:xfrm>
            <a:off x="914400" y="45974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7"/>
            </p:custDataLst>
          </p:nvPr>
        </p:nvSpPr>
        <p:spPr>
          <a:xfrm>
            <a:off x="1905000" y="4597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判断靠感觉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8"/>
            </p:custDataLst>
          </p:nvPr>
        </p:nvSpPr>
        <p:spPr>
          <a:xfrm>
            <a:off x="3683000" y="46228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没有结构化评分与排序，经验存在个人脑子里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9"/>
            </p:custDataLst>
          </p:nvPr>
        </p:nvSpPr>
        <p:spPr>
          <a:xfrm>
            <a:off x="914400" y="53086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10"/>
            </p:custDataLst>
          </p:nvPr>
        </p:nvSpPr>
        <p:spPr>
          <a:xfrm>
            <a:off x="1905000" y="53086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出方案太慢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11"/>
            </p:custDataLst>
          </p:nvPr>
        </p:nvSpPr>
        <p:spPr>
          <a:xfrm>
            <a:off x="3683000" y="533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从一个方向到完整企划，跨职能多轮沟通，单案周期以周计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6121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我们认为：研发</a:t>
            </a:r>
            <a:r>
              <a:rPr lang="zh-CN" alt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产品不仅仅</a:t>
            </a:r>
            <a:r>
              <a:rPr 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是创意问题，</a:t>
            </a:r>
            <a:r>
              <a:rPr lang="zh-CN" alt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</a:t>
            </a:r>
            <a:r>
              <a:rPr 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en-US" sz="21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决策问题</a:t>
            </a:r>
            <a:r>
              <a:rPr lang="en-US" sz="21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  <p:transition advTm="4474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6600"/>
            <a:ext cx="50800" cy="3302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" y="736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　我们的反转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不让 AI 先写创意，让 AI 先举证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606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9C9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传统路径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78514">
            <a:off x="0" y="39560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39800" y="2870200"/>
            <a:ext cx="152400" cy="152400"/>
          </a:xfrm>
          <a:prstGeom prst="ellipse">
            <a:avLst/>
          </a:prstGeom>
          <a:solidFill>
            <a:srgbClr val="BE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39800" y="3886200"/>
            <a:ext cx="152400" cy="152400"/>
          </a:xfrm>
          <a:prstGeom prst="ellipse">
            <a:avLst/>
          </a:prstGeom>
          <a:solidFill>
            <a:srgbClr val="BE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39800" y="4902200"/>
            <a:ext cx="152400" cy="152400"/>
          </a:xfrm>
          <a:prstGeom prst="ellipse">
            <a:avLst/>
          </a:prstGeom>
          <a:solidFill>
            <a:srgbClr val="BE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2768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在各平台刷帖找灵感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784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凭经验和感觉拍方向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4800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手工撰写完整方案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"/>
            </p:custDataLst>
          </p:nvPr>
        </p:nvCxnSpPr>
        <p:spPr>
          <a:xfrm rot="5383629">
            <a:off x="3898900" y="3867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" name="Connector 15"/>
          <p:cNvCxnSpPr/>
          <p:nvPr>
            <p:custDataLst>
              <p:tags r:id="rId2"/>
            </p:custDataLst>
          </p:nvPr>
        </p:nvCxnSpPr>
        <p:spPr>
          <a:xfrm rot="5378514">
            <a:off x="4902200" y="39560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>
            <p:custDataLst>
              <p:tags r:id="rId3"/>
            </p:custDataLst>
          </p:nvPr>
        </p:nvSpPr>
        <p:spPr>
          <a:xfrm>
            <a:off x="5842000" y="2870200"/>
            <a:ext cx="152400" cy="152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4"/>
            </p:custDataLst>
          </p:nvPr>
        </p:nvSpPr>
        <p:spPr>
          <a:xfrm>
            <a:off x="5842000" y="3886200"/>
            <a:ext cx="152400" cy="152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5"/>
            </p:custDataLst>
          </p:nvPr>
        </p:nvSpPr>
        <p:spPr>
          <a:xfrm>
            <a:off x="5842000" y="4902200"/>
            <a:ext cx="152400" cy="152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6"/>
            </p:custDataLst>
          </p:nvPr>
        </p:nvSpPr>
        <p:spPr>
          <a:xfrm>
            <a:off x="6172200" y="27178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五路证据并行采集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7"/>
            </p:custDataLst>
          </p:nvPr>
        </p:nvSpPr>
        <p:spPr>
          <a:xfrm>
            <a:off x="6172200" y="30226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 · 用户原声 · 竞品空位 · </a:t>
            </a:r>
            <a:r>
              <a:rPr lang="zh-CN" alt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</a:t>
            </a: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 · 流行元素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8"/>
            </p:custDataLst>
          </p:nvPr>
        </p:nvSpPr>
        <p:spPr>
          <a:xfrm>
            <a:off x="6172200" y="37338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交叉评分，</a:t>
            </a:r>
            <a:r>
              <a:rPr lang="zh-CN" alt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按优先级</a:t>
            </a:r>
            <a:r>
              <a:rPr lang="zh-CN" alt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排序建立</a:t>
            </a:r>
            <a:r>
              <a:rPr 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机会池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9"/>
            </p:custDataLst>
          </p:nvPr>
        </p:nvSpPr>
        <p:spPr>
          <a:xfrm>
            <a:off x="6172200" y="40386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每条机会都有置信度，每条依据都可</a:t>
            </a:r>
            <a:r>
              <a:rPr lang="zh-CN" alt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追溯</a:t>
            </a:r>
            <a:endParaRPr lang="zh-CN" altLang="en-US" sz="1200" b="0" i="0" u="none" strike="noStrike">
              <a:solidFill>
                <a:srgbClr val="7870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0"/>
            </p:custDataLst>
          </p:nvPr>
        </p:nvSpPr>
        <p:spPr>
          <a:xfrm>
            <a:off x="6172200" y="47498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由企划师</a:t>
            </a:r>
            <a:r>
              <a:rPr 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选定方向，生成创意</a:t>
            </a:r>
            <a:r>
              <a:rPr lang="zh-CN" alt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</a:t>
            </a:r>
            <a:r>
              <a:rPr lang="en-US" sz="16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与企划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1"/>
            </p:custDataLst>
          </p:nvPr>
        </p:nvSpPr>
        <p:spPr>
          <a:xfrm>
            <a:off x="6172200" y="50546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</a:t>
            </a: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</a:t>
            </a: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商品机会引擎，不</a:t>
            </a:r>
            <a:r>
              <a:rPr lang="zh-CN" alt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</a:t>
            </a:r>
            <a:r>
              <a:rPr lang="en-US" sz="12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是写稿助手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59265">
            <a:off x="762055" y="57340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/>
        </p:nvSpPr>
        <p:spPr>
          <a:xfrm>
            <a:off x="762000" y="5918200"/>
            <a:ext cx="1092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9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不是「AI 觉得这个方向好」，而是「</a:t>
            </a:r>
            <a:r>
              <a:rPr lang="en-US" sz="19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五路证据交叉验证，</a:t>
            </a:r>
            <a:r>
              <a:rPr lang="zh-CN" altLang="en-US" sz="19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</a:t>
            </a:r>
            <a:r>
              <a:rPr lang="zh-CN" altLang="en-US" sz="19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最有价值的</a:t>
            </a:r>
            <a:r>
              <a:rPr lang="zh-CN" altLang="en-US" sz="19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候选方向</a:t>
            </a:r>
            <a:r>
              <a:rPr lang="en-US" sz="19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1100"/>
          </a:p>
        </p:txBody>
      </p:sp>
    </p:spTree>
  </p:cSld>
  <p:clrMapOvr>
    <a:masterClrMapping/>
  </p:clrMapOvr>
  <p:transition advTm="35984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6600"/>
            <a:ext cx="50800" cy="3302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" y="736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　系统架构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四层架构：</a:t>
            </a:r>
            <a:r>
              <a:rPr lang="zh-CN" altLang="en-US" sz="27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数据打底 · 分工举证 · 硬闸把关 · 复盘进化</a:t>
            </a:r>
            <a:endParaRPr lang="zh-CN" altLang="en-US" sz="27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>
            <p:custDataLst>
              <p:tags r:id="rId1"/>
            </p:custDataLst>
          </p:nvPr>
        </p:nvCxnSpPr>
        <p:spPr>
          <a:xfrm rot="-5456">
            <a:off x="762005" y="19748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>
            <p:custDataLst>
              <p:tags r:id="rId2"/>
            </p:custDataLst>
          </p:nvPr>
        </p:nvCxnSpPr>
        <p:spPr>
          <a:xfrm rot="-5456">
            <a:off x="762005" y="28892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>
            <p:custDataLst>
              <p:tags r:id="rId3"/>
            </p:custDataLst>
          </p:nvPr>
        </p:nvCxnSpPr>
        <p:spPr>
          <a:xfrm rot="-5456">
            <a:off x="762005" y="38036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>
            <p:custDataLst>
              <p:tags r:id="rId4"/>
            </p:custDataLst>
          </p:nvPr>
        </p:nvCxnSpPr>
        <p:spPr>
          <a:xfrm rot="-5456">
            <a:off x="762005" y="47180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5456">
            <a:off x="762005" y="56324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48641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320800" y="4826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L4　</a:t>
            </a:r>
            <a:r>
              <a:rPr lang="zh-CN" altLang="en-US" sz="15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</a:t>
            </a:r>
            <a:r>
              <a:rPr lang="zh-CN" altLang="en-US" sz="15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回流</a:t>
            </a:r>
            <a:endParaRPr lang="zh-CN" altLang="en-US" sz="155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403600" y="48514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云文档审阅 → 归档 → </a:t>
            </a:r>
            <a:r>
              <a:rPr lang="zh-CN" alt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沉淀成</a:t>
            </a:r>
            <a:r>
              <a:rPr lang="zh-CN" alt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知识资产</a:t>
            </a:r>
            <a:r>
              <a:rPr 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，持续校准评分模型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" y="3949700"/>
            <a:ext cx="330200" cy="330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1320800" y="3911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　</a:t>
            </a:r>
            <a:r>
              <a:rPr lang="zh-CN" altLang="en-US" sz="15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规则把关</a:t>
            </a:r>
            <a:endParaRPr lang="zh-CN" altLang="en-US" sz="1550" b="1" i="0" u="none" strike="noStrike">
              <a:solidFill>
                <a:srgbClr val="E6322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3403600" y="39370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机会打分排序 ② 毛利红线校验 ③ 证据完备性</a:t>
            </a:r>
            <a:r>
              <a:rPr lang="zh-CN" alt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核验</a:t>
            </a:r>
            <a:endParaRPr lang="zh-CN" altLang="en-US" sz="125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" y="3035300"/>
            <a:ext cx="330200" cy="3302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1320800" y="2997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1" i="0" u="none" strike="noStrike">
                <a:solidFill>
                  <a:srgbClr val="D460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　Agent 协同层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3403600" y="30226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zh-CN" alt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 Agent</a:t>
            </a:r>
            <a:r>
              <a:rPr lang="zh-CN" alt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各自分工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：趋势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竞品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IP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250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企划</a:t>
            </a:r>
            <a:endParaRPr lang="en-US" sz="1250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8200" y="2120900"/>
            <a:ext cx="330200" cy="3302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1320800" y="20828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1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　多元数据底座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3403600" y="21082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五路证据从哪来：社媒 · 评论 · 竞品 · 内部数据 · IP 资源库</a:t>
            </a:r>
            <a:endParaRPr lang="en-US" sz="125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87267">
            <a:off x="7251700" y="38163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71000" y="2184400"/>
            <a:ext cx="431800" cy="431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804400" y="22352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alt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45600" y="2870200"/>
            <a:ext cx="2184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zh-CN" altLang="en-US" sz="1200" b="1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飞书侧业务闭环：</a:t>
            </a:r>
            <a:endParaRPr lang="zh-CN" altLang="en-US" sz="1200" b="1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飞书机器人长连接，贯穿四层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群里 @机器人 即可发起、审阅、归档</a:t>
            </a:r>
            <a:endParaRPr 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不用</a:t>
            </a: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新工具，长在每天都在用的飞书里</a:t>
            </a:r>
            <a:endParaRPr 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62000" y="5969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依赖的</a:t>
            </a:r>
            <a:r>
              <a:rPr lang="en-US" sz="18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不是一个大模型，是一支</a:t>
            </a:r>
            <a:r>
              <a:rPr lang="en-US" sz="18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有分工、</a:t>
            </a:r>
            <a:r>
              <a:rPr lang="zh-CN" altLang="en-US" sz="18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守</a:t>
            </a:r>
            <a:r>
              <a:rPr lang="en-US" sz="18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红线、会复盘</a:t>
            </a:r>
            <a:r>
              <a:rPr lang="en-US" sz="18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AI </a:t>
            </a:r>
            <a:r>
              <a:rPr lang="zh-CN" altLang="en-US" sz="18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</a:t>
            </a:r>
            <a:r>
              <a:rPr lang="en-US" sz="18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</a:t>
            </a:r>
            <a:endParaRPr lang="en-US" sz="1100"/>
          </a:p>
        </p:txBody>
      </p:sp>
    </p:spTree>
  </p:cSld>
  <p:clrMapOvr>
    <a:masterClrMapping/>
  </p:clrMapOvr>
  <p:transition advTm="4759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6600"/>
            <a:ext cx="50800" cy="3302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" y="736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一个真实跑通的 SKU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跟着一个风扇，走完全程</a:t>
            </a:r>
            <a:endParaRPr lang="en-US" sz="1100"/>
          </a:p>
        </p:txBody>
      </p:sp>
      <p:cxnSp>
        <p:nvCxnSpPr>
          <p:cNvPr id="5" name="Connector 5"/>
          <p:cNvCxnSpPr/>
          <p:nvPr>
            <p:custDataLst>
              <p:tags r:id="rId1"/>
            </p:custDataLst>
          </p:nvPr>
        </p:nvCxnSpPr>
        <p:spPr>
          <a:xfrm rot="-25464">
            <a:off x="1905024" y="2736850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" name="Connector 6"/>
          <p:cNvCxnSpPr/>
          <p:nvPr>
            <p:custDataLst>
              <p:tags r:id="rId2"/>
            </p:custDataLst>
          </p:nvPr>
        </p:nvCxnSpPr>
        <p:spPr>
          <a:xfrm rot="-25464">
            <a:off x="4127524" y="2736850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>
            <p:custDataLst>
              <p:tags r:id="rId3"/>
            </p:custDataLst>
          </p:nvPr>
        </p:nvCxnSpPr>
        <p:spPr>
          <a:xfrm rot="-25464">
            <a:off x="6350024" y="2736850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>
            <p:custDataLst>
              <p:tags r:id="rId4"/>
            </p:custDataLst>
          </p:nvPr>
        </p:nvCxnSpPr>
        <p:spPr>
          <a:xfrm rot="-25464">
            <a:off x="8572524" y="2736850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397000" y="2489200"/>
            <a:ext cx="508000" cy="5080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619500" y="2489200"/>
            <a:ext cx="508000" cy="5080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5842000" y="2489200"/>
            <a:ext cx="508000" cy="5080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8064500" y="2489200"/>
            <a:ext cx="508000" cy="5080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287000" y="2489200"/>
            <a:ext cx="508000" cy="508000"/>
          </a:xfrm>
          <a:prstGeom prst="ellipse">
            <a:avLst/>
          </a:prstGeom>
          <a:solidFill>
            <a:srgbClr val="211D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1397000" y="25908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3619500" y="25908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5842000" y="25908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064500" y="25908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10287000" y="25908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35000" y="320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输入约束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635000" y="3556000"/>
            <a:ext cx="203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价格带、成本、IP 属性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2857500" y="320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</a:t>
            </a:r>
            <a:r>
              <a:rPr lang="zh-CN" alt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</a:t>
            </a:r>
            <a:endParaRPr lang="zh-CN" altLang="en-US" sz="145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2857500" y="3556000"/>
            <a:ext cx="203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并行采集交叉验证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19"/>
            </p:custDataLst>
          </p:nvPr>
        </p:nvSpPr>
        <p:spPr>
          <a:xfrm>
            <a:off x="5080000" y="320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</a:t>
            </a:r>
            <a:r>
              <a:rPr lang="zh-CN" alt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候选</a:t>
            </a:r>
            <a:endParaRPr lang="zh-CN" altLang="en-US" sz="145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0"/>
            </p:custDataLst>
          </p:nvPr>
        </p:nvSpPr>
        <p:spPr>
          <a:xfrm>
            <a:off x="5080000" y="3556000"/>
            <a:ext cx="203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带置信度，人选方向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1"/>
            </p:custDataLst>
          </p:nvPr>
        </p:nvSpPr>
        <p:spPr>
          <a:xfrm>
            <a:off x="7302500" y="320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企划卡</a:t>
            </a:r>
            <a:r>
              <a:rPr lang="zh-CN" alt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</a:t>
            </a:r>
            <a:endParaRPr lang="zh-CN" altLang="en-US" sz="145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2"/>
            </p:custDataLst>
          </p:nvPr>
        </p:nvSpPr>
        <p:spPr>
          <a:xfrm>
            <a:off x="7302500" y="3556000"/>
            <a:ext cx="203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六模块加概念图过红线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3"/>
            </p:custDataLst>
          </p:nvPr>
        </p:nvSpPr>
        <p:spPr>
          <a:xfrm>
            <a:off x="9525000" y="320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云文档到归档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4"/>
            </p:custDataLst>
          </p:nvPr>
        </p:nvSpPr>
        <p:spPr>
          <a:xfrm>
            <a:off x="9525000" y="3556000"/>
            <a:ext cx="203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先审阅，再沉淀为资产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4572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4572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数据口径</a:t>
            </a:r>
            <a:endParaRPr lang="en-US" sz="1600"/>
          </a:p>
        </p:txBody>
      </p:sp>
      <p:sp>
        <p:nvSpPr>
          <p:cNvPr id="31" name="AutoShape 31"/>
          <p:cNvSpPr/>
          <p:nvPr/>
        </p:nvSpPr>
        <p:spPr>
          <a:xfrm>
            <a:off x="1016000" y="49022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系统先对「风扇」大类做真实扫描→ 企划师在机会池中选定置信度 78% 的「静音桌面」方向 → 融入名创自有 IP · YOYO，产出已归档企划卡。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3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这是「品类机会扫描 → 选定方向 → 落到具体 SKU」的自然收敛，同一条数据链路，不是两次割裂的运行。</a:t>
            </a:r>
            <a:endParaRPr lang="en-US" sz="135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62000" y="6197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接下来，逐个看结果　→</a:t>
            </a:r>
            <a:endParaRPr lang="en-US" sz="1100"/>
          </a:p>
        </p:txBody>
      </p:sp>
    </p:spTree>
  </p:cSld>
  <p:clrMapOvr>
    <a:masterClrMapping/>
  </p:clrMapOvr>
  <p:transition advTm="1650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604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60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第一步 · 输入约束与五路证据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10414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先画边界，再让五路证据并行举证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25600"/>
            <a:ext cx="1092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本次实时读取飞书 Base 明细 22 条；全品类累计约 130 条社媒证据、104 张竞品图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082800"/>
            <a:ext cx="5130800" cy="3543300"/>
          </a:xfrm>
          <a:prstGeom prst="roundRect">
            <a:avLst>
              <a:gd name="adj" fmla="val 57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11200" y="2082800"/>
            <a:ext cx="51308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3600" y="21971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28700" y="21971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1971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422400" y="2146300"/>
            <a:ext cx="406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SKU Hunters · 新建新品企划（约束先于创意）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l="98" r="98"/>
          <a:stretch>
            <a:fillRect/>
          </a:stretch>
        </p:blipFill>
        <p:spPr>
          <a:xfrm>
            <a:off x="711200" y="2413000"/>
            <a:ext cx="5130800" cy="321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447800" y="3736340"/>
            <a:ext cx="2717800" cy="228600"/>
          </a:xfrm>
          <a:prstGeom prst="roundRect">
            <a:avLst>
              <a:gd name="adj" fmla="val 88888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498600" y="3749040"/>
            <a:ext cx="261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</a:t>
            </a:r>
            <a:r>
              <a:rPr lang="zh-CN" alt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师输入</a:t>
            </a:r>
            <a:r>
              <a:rPr 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价格带 · 成本上限 · IP 策略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47800" y="4015740"/>
            <a:ext cx="3708400" cy="1358900"/>
          </a:xfrm>
          <a:prstGeom prst="roundRect">
            <a:avLst>
              <a:gd name="adj" fmla="val 14953"/>
            </a:avLst>
          </a:prstGeom>
          <a:noFill/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78600" y="2159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五路证据并行采集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"/>
            </p:custDataLst>
          </p:nvPr>
        </p:nvSpPr>
        <p:spPr>
          <a:xfrm>
            <a:off x="6578600" y="2540000"/>
            <a:ext cx="330200" cy="330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3"/>
            </p:custDataLst>
          </p:nvPr>
        </p:nvSpPr>
        <p:spPr>
          <a:xfrm>
            <a:off x="6578600" y="2578100"/>
            <a:ext cx="33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4"/>
            </p:custDataLst>
          </p:nvPr>
        </p:nvSpPr>
        <p:spPr>
          <a:xfrm>
            <a:off x="7061200" y="25273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趋势信号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5"/>
            </p:custDataLst>
          </p:nvPr>
        </p:nvSpPr>
        <p:spPr>
          <a:xfrm>
            <a:off x="7061200" y="28067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热度走势、季节窗口、赛道选择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6"/>
            </p:custDataLst>
          </p:nvPr>
        </p:nvSpPr>
        <p:spPr>
          <a:xfrm>
            <a:off x="6578600" y="3200400"/>
            <a:ext cx="330200" cy="330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7"/>
            </p:custDataLst>
          </p:nvPr>
        </p:nvSpPr>
        <p:spPr>
          <a:xfrm>
            <a:off x="6578600" y="3238500"/>
            <a:ext cx="33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8"/>
            </p:custDataLst>
          </p:nvPr>
        </p:nvSpPr>
        <p:spPr>
          <a:xfrm>
            <a:off x="7061200" y="31877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用户原声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9"/>
            </p:custDataLst>
          </p:nvPr>
        </p:nvSpPr>
        <p:spPr>
          <a:xfrm>
            <a:off x="7061200" y="34671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功能痛点、使用场景、情绪与内容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10"/>
            </p:custDataLst>
          </p:nvPr>
        </p:nvSpPr>
        <p:spPr>
          <a:xfrm>
            <a:off x="6578600" y="3860800"/>
            <a:ext cx="330200" cy="330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11"/>
            </p:custDataLst>
          </p:nvPr>
        </p:nvSpPr>
        <p:spPr>
          <a:xfrm>
            <a:off x="6578600" y="3898900"/>
            <a:ext cx="33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12"/>
            </p:custDataLst>
          </p:nvPr>
        </p:nvSpPr>
        <p:spPr>
          <a:xfrm>
            <a:off x="7061200" y="38481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竞品空位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13"/>
            </p:custDataLst>
          </p:nvPr>
        </p:nvSpPr>
        <p:spPr>
          <a:xfrm>
            <a:off x="7061200" y="41275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商品级价格带、卖点与图片矩阵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14"/>
            </p:custDataLst>
          </p:nvPr>
        </p:nvSpPr>
        <p:spPr>
          <a:xfrm>
            <a:off x="6578600" y="4521200"/>
            <a:ext cx="330200" cy="330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15"/>
            </p:custDataLst>
          </p:nvPr>
        </p:nvSpPr>
        <p:spPr>
          <a:xfrm>
            <a:off x="6578600" y="4559300"/>
            <a:ext cx="33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16"/>
            </p:custDataLst>
          </p:nvPr>
        </p:nvSpPr>
        <p:spPr>
          <a:xfrm>
            <a:off x="7061200" y="4508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名创内部数据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17"/>
            </p:custDataLst>
          </p:nvPr>
        </p:nvSpPr>
        <p:spPr>
          <a:xfrm>
            <a:off x="7061200" y="47879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内部销售与选品数据，滞后指标校准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18"/>
            </p:custDataLst>
          </p:nvPr>
        </p:nvSpPr>
        <p:spPr>
          <a:xfrm>
            <a:off x="6578600" y="5181600"/>
            <a:ext cx="330200" cy="3302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>
            <p:custDataLst>
              <p:tags r:id="rId19"/>
            </p:custDataLst>
          </p:nvPr>
        </p:nvSpPr>
        <p:spPr>
          <a:xfrm>
            <a:off x="6578600" y="5219700"/>
            <a:ext cx="33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20"/>
            </p:custDataLst>
          </p:nvPr>
        </p:nvSpPr>
        <p:spPr>
          <a:xfrm>
            <a:off x="7061200" y="51689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流行元素板</a:t>
            </a:r>
            <a:endParaRPr lang="en-US" sz="1100"/>
          </a:p>
        </p:txBody>
      </p:sp>
      <p:sp>
        <p:nvSpPr>
          <p:cNvPr id="36" name="AutoShape 36"/>
          <p:cNvSpPr/>
          <p:nvPr>
            <p:custDataLst>
              <p:tags r:id="rId21"/>
            </p:custDataLst>
          </p:nvPr>
        </p:nvSpPr>
        <p:spPr>
          <a:xfrm>
            <a:off x="7061200" y="5448300"/>
            <a:ext cx="457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IP、联名、热词与视觉趋势</a:t>
            </a:r>
            <a:endParaRPr lang="en-US" sz="1100"/>
          </a:p>
        </p:txBody>
      </p:sp>
    </p:spTree>
  </p:cSld>
  <p:clrMapOvr>
    <a:masterClrMapping/>
  </p:clrMapOvr>
  <p:transition advTm="15736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第二步 · 洞察驾驶舱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092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</a:t>
            </a: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关心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什么、季节窗口在哪，一页收敛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52600"/>
            <a:ext cx="5029200" cy="3479800"/>
          </a:xfrm>
          <a:prstGeom prst="roundRect">
            <a:avLst>
              <a:gd name="adj" fmla="val 58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52600"/>
            <a:ext cx="50292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18669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28700" y="18669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18669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22400" y="1816100"/>
            <a:ext cx="406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洞察驾驶舱 · 趋势机会雷达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100" r="100"/>
          <a:stretch>
            <a:fillRect/>
          </a:stretch>
        </p:blipFill>
        <p:spPr>
          <a:xfrm>
            <a:off x="711200" y="2082800"/>
            <a:ext cx="5029200" cy="314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422400" y="3865880"/>
            <a:ext cx="2489200" cy="215900"/>
          </a:xfrm>
          <a:prstGeom prst="roundRect">
            <a:avLst>
              <a:gd name="adj" fmla="val 94117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473200" y="3878580"/>
            <a:ext cx="2413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 1 条 · 痛点 4 条 · 竞品 32 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97000" y="4081780"/>
            <a:ext cx="4140200" cy="330200"/>
          </a:xfrm>
          <a:prstGeom prst="roundRect">
            <a:avLst>
              <a:gd name="adj" fmla="val 61538"/>
            </a:avLst>
          </a:prstGeom>
          <a:noFill/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51600" y="1752600"/>
            <a:ext cx="5029200" cy="3479800"/>
          </a:xfrm>
          <a:prstGeom prst="roundRect">
            <a:avLst>
              <a:gd name="adj" fmla="val 58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51600" y="1752600"/>
            <a:ext cx="50292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18669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69100" y="18669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934200" y="18669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62800" y="1816100"/>
            <a:ext cx="406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洞察驾驶舱 · 季节窗口与上市节奏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 l="100" r="100"/>
          <a:stretch>
            <a:fillRect/>
          </a:stretch>
        </p:blipFill>
        <p:spPr>
          <a:xfrm>
            <a:off x="6451600" y="2082800"/>
            <a:ext cx="5029200" cy="314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188200" y="2532380"/>
            <a:ext cx="2819400" cy="571500"/>
          </a:xfrm>
          <a:prstGeom prst="roundRect">
            <a:avLst>
              <a:gd name="adj" fmla="val 35555"/>
            </a:avLst>
          </a:prstGeom>
          <a:noFill/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3" name="Connector 23"/>
          <p:cNvCxnSpPr/>
          <p:nvPr/>
        </p:nvCxnSpPr>
        <p:spPr>
          <a:xfrm rot="-4053">
            <a:off x="711204" y="5480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11200" y="56388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</a:t>
            </a:r>
            <a:r>
              <a:rPr lang="zh-CN" altLang="en-US" b="0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</a:t>
            </a:r>
            <a:r>
              <a:rPr lang="en-US" b="0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的关键证据</a:t>
            </a:r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711200" y="5918200"/>
            <a:ext cx="10769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情绪价值驱动：三丽鸥库洛米挂脖</a:t>
            </a:r>
            <a:r>
              <a:rPr lang="zh-CN" altLang="en-US" sz="1300" b="0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风扇</a:t>
            </a:r>
            <a:r>
              <a:rPr lang="en-US" sz="1300" b="0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多款在售，</a:t>
            </a:r>
            <a:r>
              <a:rPr lang="zh-CN" altLang="en-US" sz="1300" b="0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某</a:t>
            </a:r>
            <a:r>
              <a:rPr lang="en-US" sz="1300" b="0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IP联名款单价 </a:t>
            </a:r>
            <a:r>
              <a:rPr lang="en-US" sz="13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298 元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" y="6248400"/>
            <a:ext cx="10769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上市节奏：3-4 月预热 · 5-6 月爆发 · 7-8 月旺季 · 9-10 月清仓，每条结论可</a:t>
            </a:r>
            <a:r>
              <a:rPr lang="zh-CN" alt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追溯来源与</a:t>
            </a:r>
            <a:r>
              <a:rPr lang="zh-CN" altLang="en-US" sz="13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</a:t>
            </a:r>
            <a:endParaRPr lang="zh-CN" altLang="en-US" sz="13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advTm="20883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第三步 · 竞品空位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092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空位不是猜的，是价格带数据指出来的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52600"/>
            <a:ext cx="5130800" cy="3543300"/>
          </a:xfrm>
          <a:prstGeom prst="roundRect">
            <a:avLst>
              <a:gd name="adj" fmla="val 57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52600"/>
            <a:ext cx="51308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18669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28700" y="18669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18669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22400" y="1816100"/>
            <a:ext cx="406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Competitive Map · 竞品分析（图片 / 价格 / 卖点）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98" r="98"/>
          <a:stretch>
            <a:fillRect/>
          </a:stretch>
        </p:blipFill>
        <p:spPr>
          <a:xfrm>
            <a:off x="711200" y="2082800"/>
            <a:ext cx="5130800" cy="321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473200" y="2118360"/>
            <a:ext cx="22098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 36 条，32 条进入商品卡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" y="5384800"/>
            <a:ext cx="5130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商品级竞品图板：图片 · 价格 · 卖点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18542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价格带分布（按有效标价现算）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48400" y="2489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0-50 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0" y="2501900"/>
            <a:ext cx="2921000" cy="228600"/>
          </a:xfrm>
          <a:prstGeom prst="roundRect">
            <a:avLst>
              <a:gd name="adj" fmla="val 88888"/>
            </a:avLst>
          </a:prstGeom>
          <a:solidFill>
            <a:srgbClr val="CEC6B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642600" y="24892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554E48"/>
                </a:solidFill>
                <a:latin typeface="Montserrat"/>
                <a:ea typeface="Montserrat"/>
                <a:cs typeface="Montserrat"/>
                <a:sym typeface="Montserrat"/>
              </a:rPr>
              <a:t>40.6% · 13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8400" y="29464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 元以上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2959100"/>
            <a:ext cx="2019300" cy="228600"/>
          </a:xfrm>
          <a:prstGeom prst="roundRect">
            <a:avLst>
              <a:gd name="adj" fmla="val 88888"/>
            </a:avLst>
          </a:prstGeom>
          <a:solidFill>
            <a:srgbClr val="CEC6B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740900" y="29464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554E48"/>
                </a:solidFill>
                <a:latin typeface="Montserrat"/>
                <a:ea typeface="Montserrat"/>
                <a:cs typeface="Montserrat"/>
                <a:sym typeface="Montserrat"/>
              </a:rPr>
              <a:t>28.1% · 9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8400" y="34036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50-100 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3416300"/>
            <a:ext cx="1574800" cy="228600"/>
          </a:xfrm>
          <a:prstGeom prst="roundRect">
            <a:avLst>
              <a:gd name="adj" fmla="val 88888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296400" y="34036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21.9% · 7（偏薄</a:t>
            </a:r>
            <a:r>
              <a:rPr lang="zh-CN" altLang="en-US" sz="115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弱</a:t>
            </a:r>
            <a:r>
              <a:rPr lang="en-US" sz="115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）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48400" y="3860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100-150 元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3873500"/>
            <a:ext cx="673100" cy="228600"/>
          </a:xfrm>
          <a:prstGeom prst="roundRect">
            <a:avLst>
              <a:gd name="adj" fmla="val 88888"/>
            </a:avLst>
          </a:prstGeom>
          <a:solidFill>
            <a:srgbClr val="CEC6B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94700" y="38608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554E48"/>
                </a:solidFill>
                <a:latin typeface="Montserrat"/>
                <a:ea typeface="Montserrat"/>
                <a:cs typeface="Montserrat"/>
                <a:sym typeface="Montserrat"/>
              </a:rPr>
              <a:t>9.4% · 3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48400" y="4648200"/>
            <a:ext cx="50800" cy="6096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51600" y="4622800"/>
            <a:ext cx="50292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低价带已是红海（40.6%），高价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带被 </a:t>
            </a:r>
            <a:r>
              <a:rPr lang="en-US" altLang="zh-CN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溢价占据（28.1%），50–100 元中端带正是名创可发掘的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</a:t>
            </a:r>
            <a:endParaRPr lang="zh-CN" altLang="en-US" sz="14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桌面静音场景明显偏薄</a:t>
            </a:r>
            <a:r>
              <a:rPr lang="zh-CN" altLang="en-US" sz="14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</a:t>
            </a: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——这就是数据指出的机会空位</a:t>
            </a:r>
            <a:endParaRPr lang="en-US" sz="14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advTm="1707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350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3500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</a:t>
            </a: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新品类自动调研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092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新品类没数据？飞书自动调研补全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1092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遇到策展 Base 里没有的新品类：群里机器人即登记需，豆包工作伙伴自动采集回填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11200" y="1905000"/>
            <a:ext cx="3403600" cy="3632200"/>
          </a:xfrm>
          <a:prstGeom prst="roundRect">
            <a:avLst>
              <a:gd name="adj" fmla="val 52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863600" y="2057400"/>
            <a:ext cx="279400" cy="279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863600" y="2082800"/>
            <a:ext cx="279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244600" y="2057400"/>
            <a:ext cx="271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群里发起，登记需求池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174" r="174"/>
          <a:stretch>
            <a:fillRect/>
          </a:stretch>
        </p:blipFill>
        <p:spPr>
          <a:xfrm>
            <a:off x="863600" y="2489200"/>
            <a:ext cx="3098800" cy="1397000"/>
          </a:xfrm>
          <a:prstGeom prst="roundRect">
            <a:avLst>
              <a:gd name="adj" fmla="val 7272"/>
            </a:avLst>
          </a:prstGeom>
          <a:noFill/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90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新品类（如「帽子 × YOYO」）在 Base 里没有数据，机器人自动登记为「待调研」、本次任务暂停，并在群里明确回执，等数据补全再企划。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368800" y="1905000"/>
            <a:ext cx="3403600" cy="3632200"/>
          </a:xfrm>
          <a:prstGeom prst="roundRect">
            <a:avLst>
              <a:gd name="adj" fmla="val 5223"/>
            </a:avLst>
          </a:prstGeom>
          <a:solidFill>
            <a:srgbClr val="FFFAF6">
              <a:alpha val="100000"/>
            </a:srgbClr>
          </a:solidFill>
          <a:ln w="12700" cap="flat" cmpd="sng">
            <a:solidFill>
              <a:srgbClr val="FF7A2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521200" y="2057400"/>
            <a:ext cx="279400" cy="2794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4521200" y="2082800"/>
            <a:ext cx="279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4902200" y="2057400"/>
            <a:ext cx="271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D460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豆包工作伙伴自动调研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27" r="27"/>
          <a:stretch>
            <a:fillRect/>
          </a:stretch>
        </p:blipFill>
        <p:spPr>
          <a:xfrm>
            <a:off x="4559300" y="2438400"/>
            <a:ext cx="3022600" cy="1905000"/>
          </a:xfrm>
          <a:prstGeom prst="roundRect">
            <a:avLst>
              <a:gd name="adj" fmla="val 5333"/>
            </a:avLst>
          </a:prstGeom>
          <a:noFill/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45466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豆包工作伙伴订阅需求池、定时巡检，自动采集趋势 / 痛点 / 竞品 / 热词，写入明细、竞品、汇总三张表。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8026400" y="1905000"/>
            <a:ext cx="3403600" cy="3632200"/>
          </a:xfrm>
          <a:prstGeom prst="roundRect">
            <a:avLst>
              <a:gd name="adj" fmla="val 522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8178800" y="2057400"/>
            <a:ext cx="279400" cy="279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8178800" y="2082800"/>
            <a:ext cx="279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8559800" y="2057400"/>
            <a:ext cx="271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数据回填 Base，即可企划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l="225" r="225"/>
          <a:stretch>
            <a:fillRect/>
          </a:stretch>
        </p:blipFill>
        <p:spPr>
          <a:xfrm>
            <a:off x="8178800" y="2514600"/>
            <a:ext cx="3098800" cy="1739900"/>
          </a:xfrm>
          <a:prstGeom prst="roundRect">
            <a:avLst>
              <a:gd name="adj" fmla="val 5839"/>
            </a:avLst>
          </a:prstGeom>
          <a:noFill/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82042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采集结果回填策展 Base；下次群里再 @机器人，就能基于真实数据走完五看与企划。</a:t>
            </a:r>
            <a:endParaRPr lang="en-US" sz="1100"/>
          </a:p>
        </p:txBody>
      </p:sp>
      <p:cxnSp>
        <p:nvCxnSpPr>
          <p:cNvPr id="24" name="Connector 24"/>
          <p:cNvCxnSpPr/>
          <p:nvPr>
            <p:custDataLst>
              <p:tags r:id="rId22"/>
            </p:custDataLst>
          </p:nvPr>
        </p:nvCxnSpPr>
        <p:spPr>
          <a:xfrm rot="-214580">
            <a:off x="4140398" y="34480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7A2E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" name="Connector 25"/>
          <p:cNvCxnSpPr/>
          <p:nvPr>
            <p:custDataLst>
              <p:tags r:id="rId23"/>
            </p:custDataLst>
          </p:nvPr>
        </p:nvCxnSpPr>
        <p:spPr>
          <a:xfrm rot="-214580">
            <a:off x="7797998" y="34480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7A2E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" name="Connector 26"/>
          <p:cNvCxnSpPr/>
          <p:nvPr/>
        </p:nvCxnSpPr>
        <p:spPr>
          <a:xfrm rot="-61381">
            <a:off x="711257" y="59372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" name="AutoShape 27"/>
          <p:cNvSpPr/>
          <p:nvPr/>
        </p:nvSpPr>
        <p:spPr>
          <a:xfrm>
            <a:off x="711200" y="6096000"/>
            <a:ext cx="1092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新品类从「没数据」到「自动补数」——每个 SKU 的证据，都沉淀为可复用的组织资产</a:t>
            </a:r>
            <a:endParaRPr lang="en-US" sz="1100"/>
          </a:p>
        </p:txBody>
      </p:sp>
    </p:spTree>
  </p:cSld>
  <p:clrMapOvr>
    <a:masterClrMapping/>
  </p:clrMapOvr>
  <p:transition advTm="1836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第四步 · 机会池与</a:t>
            </a:r>
            <a:r>
              <a:rPr lang="zh-CN" alt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</a:t>
            </a:r>
            <a:r>
              <a:rPr lang="zh-CN" alt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endParaRPr lang="zh-CN" altLang="en-US" sz="2000" b="0" i="0" u="none" strike="noStrike">
              <a:solidFill>
                <a:srgbClr val="E6322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117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系统给方向和排序，选择权始终在人手里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27200"/>
            <a:ext cx="6959600" cy="4686300"/>
          </a:xfrm>
          <a:prstGeom prst="roundRect">
            <a:avLst>
              <a:gd name="adj" fmla="val 43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27200"/>
            <a:ext cx="69596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18415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28700" y="18415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18415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22400" y="1790700"/>
            <a:ext cx="508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机会生成 · 三张候选方向卡（置信度排序，依据可回溯）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72" r="72"/>
          <a:stretch>
            <a:fillRect/>
          </a:stretch>
        </p:blipFill>
        <p:spPr>
          <a:xfrm>
            <a:off x="711200" y="2057400"/>
            <a:ext cx="6959600" cy="4356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543300" y="3594100"/>
            <a:ext cx="2362200" cy="228600"/>
          </a:xfrm>
          <a:prstGeom prst="roundRect">
            <a:avLst>
              <a:gd name="adj" fmla="val 88888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94100" y="3606800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企划师选定 · 静音桌面</a:t>
            </a:r>
            <a:r>
              <a:rPr lang="zh-CN" alt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风扇</a:t>
            </a:r>
            <a:r>
              <a:rPr lang="en-US" sz="9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78%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70300" y="3835400"/>
            <a:ext cx="1854200" cy="2578100"/>
          </a:xfrm>
          <a:prstGeom prst="roundRect">
            <a:avLst>
              <a:gd name="adj" fmla="val 10958"/>
            </a:avLst>
          </a:prstGeom>
          <a:noFill/>
          <a:ln w="25400" cap="flat" cmpd="sng">
            <a:solidFill>
              <a:srgbClr val="E6322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77200" y="1803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000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五路证据加权</a:t>
            </a:r>
            <a:r>
              <a:rPr lang="zh-CN" alt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给出</a:t>
            </a:r>
            <a:r>
              <a:rPr lang="en-US" sz="2000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机会置信度</a:t>
            </a:r>
            <a:endParaRPr lang="en-US" sz="2000">
              <a:solidFill>
                <a:srgbClr val="E6322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77200" y="2597785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D4601A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13800" y="2623185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YOYO 冰凉挂脖风扇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13800" y="2902585"/>
            <a:ext cx="2692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户外通勤 · 场景增长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77200" y="3258185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787068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13800" y="3283585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YOYO 手持七夕礼盒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13800" y="3562985"/>
            <a:ext cx="2692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情绪消费 · 七夕礼赠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77200" y="3918585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13800" y="3943985"/>
            <a:ext cx="269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原创静音桌面风扇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13800" y="4223385"/>
            <a:ext cx="2692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痛点解决 · 企划师本次选定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2827">
            <a:off x="8077212" y="4972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077200" y="5537200"/>
            <a:ext cx="3454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企划师</a:t>
            </a:r>
            <a:r>
              <a:rPr lang="zh-CN" altLang="en-US" sz="13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负责命中价格空位和痛点的交汇</a:t>
            </a:r>
            <a:endParaRPr lang="zh-CN" altLang="en-US" sz="1350" b="1" i="0" u="none" strike="noStrike">
              <a:solidFill>
                <a:srgbClr val="E6322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系统给方向，人做选择</a:t>
            </a:r>
            <a:endParaRPr lang="en-US" sz="1100"/>
          </a:p>
        </p:txBody>
      </p:sp>
    </p:spTree>
  </p:cSld>
  <p:clrMapOvr>
    <a:masterClrMapping/>
  </p:clrMapOvr>
  <p:transition advTm="20967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350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35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第五步 · 新品企划卡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117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一张能直接评审、立项的完整企划卡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11200" y="1854200"/>
            <a:ext cx="5575300" cy="3581400"/>
          </a:xfrm>
          <a:prstGeom prst="roundRect">
            <a:avLst>
              <a:gd name="adj" fmla="val 49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11200" y="1854200"/>
            <a:ext cx="5575300" cy="330200"/>
          </a:xfrm>
          <a:prstGeom prst="roundRect">
            <a:avLst>
              <a:gd name="adj" fmla="val 53846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863600" y="19685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028700" y="19685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1193800" y="19685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1422400" y="1917700"/>
            <a:ext cx="469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企划卡 · 定位与即梦概念图（分钟级生成）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84" r="84"/>
          <a:stretch>
            <a:fillRect/>
          </a:stretch>
        </p:blipFill>
        <p:spPr>
          <a:xfrm>
            <a:off x="711200" y="2184400"/>
            <a:ext cx="5575300" cy="3251200"/>
          </a:xfrm>
          <a:prstGeom prst="roundRect">
            <a:avLst>
              <a:gd name="adj" fmla="val 546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591300" y="1854200"/>
            <a:ext cx="4889500" cy="3581400"/>
          </a:xfrm>
          <a:prstGeom prst="roundRect">
            <a:avLst>
              <a:gd name="adj" fmla="val 49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591300" y="1854200"/>
            <a:ext cx="4889500" cy="330200"/>
          </a:xfrm>
          <a:prstGeom prst="roundRect">
            <a:avLst>
              <a:gd name="adj" fmla="val 53846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743700" y="19685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908800" y="19685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7073900" y="19685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7302500" y="1917700"/>
            <a:ext cx="40259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企划卡 · 六模块全貌（证据可回溯）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43" r="43"/>
          <a:stretch>
            <a:fillRect/>
          </a:stretch>
        </p:blipFill>
        <p:spPr>
          <a:xfrm>
            <a:off x="6591300" y="2184400"/>
            <a:ext cx="4889500" cy="3251200"/>
          </a:xfrm>
          <a:prstGeom prst="roundRect">
            <a:avLst>
              <a:gd name="adj" fmla="val 546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" y="5537200"/>
            <a:ext cx="10769600" cy="457200"/>
          </a:xfrm>
          <a:prstGeom prst="roundRect">
            <a:avLst>
              <a:gd name="adj" fmla="val 27777"/>
            </a:avLst>
          </a:prstGeom>
          <a:solidFill>
            <a:srgbClr val="F4F0EA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874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市场机会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781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商品定位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688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产品概念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商品规格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629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商业模型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53600" y="5613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en-US" sz="125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增长路线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228255">
            <a:off x="2374900" y="5759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Connector 28"/>
          <p:cNvCxnSpPr/>
          <p:nvPr/>
        </p:nvCxnSpPr>
        <p:spPr>
          <a:xfrm rot="5228255">
            <a:off x="4165600" y="5759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Connector 29"/>
          <p:cNvCxnSpPr/>
          <p:nvPr/>
        </p:nvCxnSpPr>
        <p:spPr>
          <a:xfrm rot="5228255">
            <a:off x="5969000" y="5759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5228255">
            <a:off x="7759700" y="5759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Connector 31"/>
          <p:cNvCxnSpPr/>
          <p:nvPr/>
        </p:nvCxnSpPr>
        <p:spPr>
          <a:xfrm rot="5228255">
            <a:off x="9550400" y="5759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advTm="14554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　长在飞书里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1174750" y="1016000"/>
            <a:ext cx="1117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飞书协同管理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：在群里走完发起与审阅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25600"/>
            <a:ext cx="406400" cy="406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018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44600" y="1676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群里 @ 机器人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133600"/>
            <a:ext cx="441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一句话说清品类与想法即可发起。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信息不全时，机器人发表单让你补全必填项，不盲目</a:t>
            </a: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</a:t>
            </a: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11200" y="2667000"/>
            <a:ext cx="4419600" cy="31750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914400" y="2794000"/>
            <a:ext cx="40259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308600" y="4013200"/>
            <a:ext cx="482600" cy="4826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08600" y="4064000"/>
            <a:ext cx="482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625600"/>
            <a:ext cx="406400" cy="4064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17018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02400" y="16764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完整云文档回群审阅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69000" y="2133600"/>
            <a:ext cx="551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</a:t>
            </a: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路证据</a:t>
            </a: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＋ 企划案 ＋ 概念图，自动汇成一篇完整云文档发回群里。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企划师</a:t>
            </a: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在文档里确认、改稿，</a:t>
            </a:r>
            <a:r>
              <a:rPr lang="zh-CN" alt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</a:t>
            </a:r>
            <a:r>
              <a:rPr lang="en-US" sz="120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在多个页面间跳转。</a:t>
            </a:r>
            <a:endParaRPr lang="en-US" sz="1200" b="0" i="0" u="none" strike="noStrike">
              <a:solidFill>
                <a:srgbClr val="554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969000" y="2667000"/>
            <a:ext cx="5138420" cy="31750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-61381">
            <a:off x="711257" y="61150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/>
          <p:nvPr/>
        </p:nvSpPr>
        <p:spPr>
          <a:xfrm>
            <a:off x="711200" y="62738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证据、机会、企划全程留痕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可复盘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可复用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350" y="2768600"/>
            <a:ext cx="4150360" cy="3004185"/>
          </a:xfrm>
          <a:prstGeom prst="rect">
            <a:avLst/>
          </a:prstGeom>
        </p:spPr>
      </p:pic>
    </p:spTree>
  </p:cSld>
  <p:clrMapOvr>
    <a:masterClrMapping/>
  </p:clrMapOvr>
  <p:transition advTm="35653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　长在飞书里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一套飞书原生能力，撑起整条企划链路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不是只接了一个机器人——数据、交互、交付与自动化都建在飞书上，五个原生能力各司其职、闭环在同一个平台。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11200" y="1930400"/>
            <a:ext cx="3454400" cy="1905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939800" y="2133600"/>
            <a:ext cx="482600" cy="482600"/>
          </a:xfrm>
          <a:prstGeom prst="roundRect">
            <a:avLst>
              <a:gd name="adj" fmla="val 26315"/>
            </a:avLst>
          </a:prstGeom>
          <a:solidFill>
            <a:srgbClr val="E63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" y="22352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549400" y="215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飞书多维表格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549400" y="2514600"/>
            <a:ext cx="241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数据底座 · 读与写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939800" y="2794000"/>
            <a:ext cx="2997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策展数据、竞品、IP 资源库实时读取；企划结果归档、调研需求自动写入，5 张表贯穿全链路。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9"/>
            </p:custDataLst>
          </p:nvPr>
        </p:nvCxnSpPr>
        <p:spPr>
          <a:xfrm rot="-14566">
            <a:off x="939813" y="35750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4368800" y="1930400"/>
            <a:ext cx="3454400" cy="1905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4597400" y="2133600"/>
            <a:ext cx="482600" cy="482600"/>
          </a:xfrm>
          <a:prstGeom prst="roundRect">
            <a:avLst>
              <a:gd name="adj" fmla="val 26315"/>
            </a:avLst>
          </a:prstGeom>
          <a:solidFill>
            <a:srgbClr val="E63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99000" y="22352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5207000" y="215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企业自建应用</a:t>
            </a:r>
            <a:r>
              <a:rPr 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5207000" y="2514600"/>
            <a:ext cx="241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统一入口 · 实时在线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4597400" y="2794000"/>
            <a:ext cx="2997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 WebSocket 长连接常驻在线，</a:t>
            </a:r>
            <a:b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群里 @机器人即可即时响应。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18"/>
            </p:custDataLst>
          </p:nvPr>
        </p:nvCxnSpPr>
        <p:spPr>
          <a:xfrm rot="-14566">
            <a:off x="4597413" y="35750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8026400" y="1930400"/>
            <a:ext cx="3454400" cy="1905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8255000" y="2133600"/>
            <a:ext cx="482600" cy="482600"/>
          </a:xfrm>
          <a:prstGeom prst="roundRect">
            <a:avLst>
              <a:gd name="adj" fmla="val 26315"/>
            </a:avLst>
          </a:prstGeom>
          <a:solidFill>
            <a:srgbClr val="E63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56600" y="22352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4"/>
            </p:custDataLst>
          </p:nvPr>
        </p:nvSpPr>
        <p:spPr>
          <a:xfrm>
            <a:off x="8864600" y="215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消息卡片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5"/>
            </p:custDataLst>
          </p:nvPr>
        </p:nvSpPr>
        <p:spPr>
          <a:xfrm>
            <a:off x="8864600" y="2514600"/>
            <a:ext cx="241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交互界面 · 卡片即操作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6"/>
            </p:custDataLst>
          </p:nvPr>
        </p:nvSpPr>
        <p:spPr>
          <a:xfrm>
            <a:off x="8255000" y="2794000"/>
            <a:ext cx="2997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表单补全必填项、下拉选定 IP，按钮点选方向、发起调研、归档、打开报告，卡片就是操作台。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27"/>
            </p:custDataLst>
          </p:nvPr>
        </p:nvCxnSpPr>
        <p:spPr>
          <a:xfrm rot="-14566">
            <a:off x="8255013" y="35750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2425700" y="4038600"/>
            <a:ext cx="3454400" cy="1905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6CDC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9"/>
            </p:custDataLst>
          </p:nvPr>
        </p:nvSpPr>
        <p:spPr>
          <a:xfrm>
            <a:off x="2654300" y="4241800"/>
            <a:ext cx="482600" cy="482600"/>
          </a:xfrm>
          <a:prstGeom prst="roundRect">
            <a:avLst>
              <a:gd name="adj" fmla="val 26315"/>
            </a:avLst>
          </a:prstGeom>
          <a:solidFill>
            <a:srgbClr val="E6322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755900" y="43434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33"/>
            </p:custDataLst>
          </p:nvPr>
        </p:nvSpPr>
        <p:spPr>
          <a:xfrm>
            <a:off x="3263900" y="42672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飞书云文档 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34"/>
            </p:custDataLst>
          </p:nvPr>
        </p:nvSpPr>
        <p:spPr>
          <a:xfrm>
            <a:off x="3263900" y="4622800"/>
            <a:ext cx="241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交付载体 · 在线审阅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35"/>
            </p:custDataLst>
          </p:nvPr>
        </p:nvSpPr>
        <p:spPr>
          <a:xfrm>
            <a:off x="2654300" y="4902200"/>
            <a:ext cx="2997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五看驾驶舱、企划案、概念图自动汇成在线文档，表格、高亮块、图片分块写入，群里直接审阅改稿。</a:t>
            </a:r>
            <a:endParaRPr lang="en-US" sz="1100"/>
          </a:p>
        </p:txBody>
      </p:sp>
      <p:cxnSp>
        <p:nvCxnSpPr>
          <p:cNvPr id="36" name="Connector 36"/>
          <p:cNvCxnSpPr/>
          <p:nvPr>
            <p:custDataLst>
              <p:tags r:id="rId36"/>
            </p:custDataLst>
          </p:nvPr>
        </p:nvCxnSpPr>
        <p:spPr>
          <a:xfrm rot="-14566">
            <a:off x="2654313" y="56832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>
            <p:custDataLst>
              <p:tags r:id="rId37"/>
            </p:custDataLst>
          </p:nvPr>
        </p:nvSpPr>
        <p:spPr>
          <a:xfrm>
            <a:off x="6083300" y="4038600"/>
            <a:ext cx="34544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 cap="flat" cmpd="sng">
            <a:solidFill>
              <a:srgbClr val="EAE5E0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>
            <p:custDataLst>
              <p:tags r:id="rId38"/>
            </p:custDataLst>
          </p:nvPr>
        </p:nvSpPr>
        <p:spPr>
          <a:xfrm>
            <a:off x="6311900" y="4241800"/>
            <a:ext cx="482600" cy="482600"/>
          </a:xfrm>
          <a:prstGeom prst="roundRect">
            <a:avLst>
              <a:gd name="adj" fmla="val 26315"/>
            </a:avLst>
          </a:prstGeom>
          <a:solidFill>
            <a:srgbClr val="FF7A2E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13500" y="4343400"/>
            <a:ext cx="279400" cy="279400"/>
          </a:xfrm>
          <a:prstGeom prst="rect">
            <a:avLst/>
          </a:prstGeom>
        </p:spPr>
      </p:pic>
      <p:sp>
        <p:nvSpPr>
          <p:cNvPr id="41" name="AutoShape 41"/>
          <p:cNvSpPr/>
          <p:nvPr>
            <p:custDataLst>
              <p:tags r:id="rId42"/>
            </p:custDataLst>
          </p:nvPr>
        </p:nvSpPr>
        <p:spPr>
          <a:xfrm>
            <a:off x="6921500" y="42672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豆包工作伙伴</a:t>
            </a:r>
            <a:endParaRPr lang="zh-CN" altLang="en-US" sz="15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2"/>
          <p:cNvSpPr/>
          <p:nvPr>
            <p:custDataLst>
              <p:tags r:id="rId43"/>
            </p:custDataLst>
          </p:nvPr>
        </p:nvSpPr>
        <p:spPr>
          <a:xfrm>
            <a:off x="6921500" y="4622800"/>
            <a:ext cx="241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EC58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050">
                <a:solidFill>
                  <a:srgbClr val="EC58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</a:t>
            </a:r>
            <a:r>
              <a:rPr lang="zh-CN" altLang="en-US" sz="1050">
                <a:solidFill>
                  <a:srgbClr val="EC58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r>
              <a:rPr lang="en-US" sz="1050" b="0" i="0" u="none" strike="noStrike">
                <a:solidFill>
                  <a:srgbClr val="EC58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050">
                <a:solidFill>
                  <a:srgbClr val="EC58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自学习飞轮</a:t>
            </a:r>
            <a:endParaRPr lang="en-US" altLang="en-US" sz="1050" b="0" i="0" u="none" strike="noStrike">
              <a:solidFill>
                <a:srgbClr val="EC582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43"/>
          <p:cNvSpPr/>
          <p:nvPr>
            <p:custDataLst>
              <p:tags r:id="rId44"/>
            </p:custDataLst>
          </p:nvPr>
        </p:nvSpPr>
        <p:spPr>
          <a:xfrm>
            <a:off x="6311900" y="4902200"/>
            <a:ext cx="2997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新品类自动进入调研需求池，豆包工作伙伴订阅后自动调研、回填策展表，系统越跑数据越全。</a:t>
            </a:r>
            <a:endParaRPr lang="en-US" sz="1100"/>
          </a:p>
        </p:txBody>
      </p:sp>
      <p:cxnSp>
        <p:nvCxnSpPr>
          <p:cNvPr id="44" name="Connector 44"/>
          <p:cNvCxnSpPr/>
          <p:nvPr>
            <p:custDataLst>
              <p:tags r:id="rId45"/>
            </p:custDataLst>
          </p:nvPr>
        </p:nvCxnSpPr>
        <p:spPr>
          <a:xfrm rot="-14566">
            <a:off x="6311913" y="56832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E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Connector 51"/>
          <p:cNvCxnSpPr/>
          <p:nvPr/>
        </p:nvCxnSpPr>
        <p:spPr>
          <a:xfrm rot="-61381">
            <a:off x="711257" y="6165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2" name="AutoShape 52"/>
          <p:cNvSpPr/>
          <p:nvPr/>
        </p:nvSpPr>
        <p:spPr>
          <a:xfrm>
            <a:off x="711200" y="62992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五个飞书原生能力协同——</a:t>
            </a:r>
            <a:r>
              <a:rPr lang="en-US" sz="14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数据有出处、交互留痕迹、交付即沉淀</a:t>
            </a: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，全链路不离开平台</a:t>
            </a:r>
            <a:endParaRPr lang="en-US" sz="1100"/>
          </a:p>
        </p:txBody>
      </p:sp>
    </p:spTree>
  </p:cSld>
  <p:clrMapOvr>
    <a:masterClrMapping/>
  </p:clrMapOvr>
  <p:transition advTm="2658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　业务价值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117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让新品研发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从以周计到</a:t>
            </a: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</a:t>
            </a: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，从个人经验</a:t>
            </a: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组织资产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2006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098800" y="200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0" y="2006600"/>
            <a:ext cx="436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SKU HUNTERS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053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1D1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-4053">
            <a:off x="711204" y="3041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4053">
            <a:off x="711204" y="375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4053">
            <a:off x="711204" y="446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4053">
            <a:off x="711204" y="51752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E1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11200" y="2514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调研汇聚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98800" y="2527300"/>
            <a:ext cx="350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五六个平台手工刷帖，约 3 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05600" y="25654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527300"/>
            <a:ext cx="436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采集后分钟级汇聚评分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" y="3225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98800" y="3238500"/>
            <a:ext cx="350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提设计工单，等 3-5 天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05600" y="32766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3238500"/>
            <a:ext cx="436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即梦</a:t>
            </a: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AI出图，一次生成、多处共用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" y="3937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</a:t>
            </a:r>
            <a:r>
              <a:rPr lang="zh-CN" alt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</a:t>
            </a:r>
            <a:endParaRPr lang="zh-CN" altLang="en-US" sz="14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098800" y="3949700"/>
            <a:ext cx="350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跨职能多轮沟通，以周计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05600" y="39878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949700"/>
            <a:ext cx="436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分钟级产出</a:t>
            </a: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六模块</a:t>
            </a: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完整企划</a:t>
            </a: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，自动</a:t>
            </a: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</a:t>
            </a: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三层核验</a:t>
            </a:r>
            <a:endParaRPr lang="zh-CN" altLang="en-US" sz="1300" b="1" i="0" u="none" strike="noStrike">
              <a:solidFill>
                <a:srgbClr val="211D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11200" y="4648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经验沉淀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098800" y="4660900"/>
            <a:ext cx="350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装在个人脑里，人走经验走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05600" y="46990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112000" y="4660900"/>
            <a:ext cx="436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归档成</a:t>
            </a:r>
            <a:r>
              <a:rPr lang="zh-CN" alt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可复用</a:t>
            </a:r>
            <a:r>
              <a:rPr lang="en-US" sz="13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组织资产</a:t>
            </a:r>
            <a:endParaRPr lang="en-US" sz="1100"/>
          </a:p>
        </p:txBody>
      </p:sp>
    </p:spTree>
  </p:cSld>
  <p:clrMapOvr>
    <a:masterClrMapping/>
  </p:clrMapOvr>
  <p:transition advTm="24476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609600"/>
            <a:ext cx="50800" cy="3048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" y="609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　为什么</a:t>
            </a:r>
            <a:r>
              <a:rPr lang="zh-CN" alt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系统应用在</a:t>
            </a:r>
            <a:r>
              <a:rPr lang="en-US" sz="2000" b="0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名创</a:t>
            </a:r>
            <a:endParaRPr lang="en-US" sz="2000"/>
          </a:p>
        </p:txBody>
      </p:sp>
      <p:sp>
        <p:nvSpPr>
          <p:cNvPr id="4" name="AutoShape 4"/>
          <p:cNvSpPr/>
          <p:nvPr/>
        </p:nvSpPr>
        <p:spPr>
          <a:xfrm>
            <a:off x="711200" y="990600"/>
            <a:ext cx="1117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名创的模式</a:t>
            </a:r>
            <a:r>
              <a:rPr lang="zh-CN" alt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</a:t>
            </a:r>
            <a:r>
              <a:rPr lang="en-US" sz="26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是这套系统的土壤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11200" y="1905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219200" y="1905000"/>
            <a:ext cx="5130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高频上新、海量 SKU 的</a:t>
            </a:r>
            <a:r>
              <a:rPr lang="zh-CN" alt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</a:t>
            </a: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219200" y="2209800"/>
            <a:ext cx="513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一年数千款新品，</a:t>
            </a:r>
            <a:r>
              <a:rPr lang="zh-CN" alt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企划师</a:t>
            </a: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精力有限——机会引擎帮买手把信号看全、把方向排清。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11200" y="28448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219200" y="2844800"/>
            <a:ext cx="5130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向全球 IP 运营平台转型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219200" y="3149600"/>
            <a:ext cx="513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YOYO </a:t>
            </a:r>
            <a:r>
              <a:rPr lang="zh-CN" alt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预计破 8 亿</a:t>
            </a: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、乐园店九成是 IP；IP 匹配与自有 / 联名标注正是我们的核心环节。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711200" y="37846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1219200" y="3784600"/>
            <a:ext cx="5130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 8500+ 门店，就是测试场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219200" y="4089400"/>
            <a:ext cx="513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高密度门店与高频上新节奏，是验证新品最快、最便宜的实验场。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711200" y="47244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1219200" y="4724400"/>
            <a:ext cx="5130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已用飞书多维表跑通 AI 巡店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1219200" y="5029200"/>
            <a:ext cx="51308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技术栈一致（多 </a:t>
            </a:r>
            <a:r>
              <a:rPr lang="en-US" altLang="zh-CN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/ MCP / </a:t>
            </a:r>
            <a:r>
              <a:rPr lang="zh-CN" alt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多维表），可直接嵌入名创现有数字化体系</a:t>
            </a:r>
            <a:r>
              <a:rPr lang="en-US" sz="1150" b="0" i="0" u="none" strike="noStrike">
                <a:solidFill>
                  <a:srgbClr val="554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54800" y="1905000"/>
            <a:ext cx="4826000" cy="3543300"/>
          </a:xfrm>
          <a:prstGeom prst="roundRect">
            <a:avLst>
              <a:gd name="adj" fmla="val 57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A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54800" y="1905000"/>
            <a:ext cx="4826000" cy="330200"/>
          </a:xfrm>
          <a:prstGeom prst="roundRect">
            <a:avLst>
              <a:gd name="adj" fmla="val 61538"/>
            </a:avLst>
          </a:prstGeom>
          <a:solidFill>
            <a:srgbClr val="F4F0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07200" y="2019300"/>
            <a:ext cx="88900" cy="88900"/>
          </a:xfrm>
          <a:prstGeom prst="ellipse">
            <a:avLst/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72300" y="2019300"/>
            <a:ext cx="88900" cy="88900"/>
          </a:xfrm>
          <a:prstGeom prst="ellipse">
            <a:avLst/>
          </a:prstGeom>
          <a:solidFill>
            <a:srgbClr val="FF7A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37400" y="2019300"/>
            <a:ext cx="88900" cy="88900"/>
          </a:xfrm>
          <a:prstGeom prst="ellipse">
            <a:avLst/>
          </a:prstGeom>
          <a:solidFill>
            <a:srgbClr val="C8C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366000" y="1968500"/>
            <a:ext cx="406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870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MINISO LAND · 名创乐园店（高频 IP 上新）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rcRect t="65" b="65"/>
          <a:stretch>
            <a:fillRect/>
          </a:stretch>
        </p:blipFill>
        <p:spPr>
          <a:xfrm>
            <a:off x="6654800" y="2235200"/>
            <a:ext cx="4826000" cy="321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5" name="Connector 25"/>
          <p:cNvCxnSpPr/>
          <p:nvPr/>
        </p:nvCxnSpPr>
        <p:spPr>
          <a:xfrm rot="-61381">
            <a:off x="711257" y="5911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32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/>
        </p:nvSpPr>
        <p:spPr>
          <a:xfrm>
            <a:off x="711200" y="6070600"/>
            <a:ext cx="1076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1D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把名创已验证的「低成本工具重构流程」范式，</a:t>
            </a:r>
            <a:r>
              <a:rPr lang="en-US" sz="1400" b="1" i="0" u="none" strike="noStrike">
                <a:solidFill>
                  <a:srgbClr val="E632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从门店运营迁移到新品开发</a:t>
            </a:r>
            <a:endParaRPr lang="en-US" sz="1100"/>
          </a:p>
        </p:txBody>
      </p:sp>
    </p:spTree>
  </p:cSld>
  <p:clrMapOvr>
    <a:masterClrMapping/>
  </p:clrMapOvr>
  <p:transition advTm="27037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6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13208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6322E"/>
                </a:solidFill>
                <a:latin typeface="Montserrat"/>
                <a:ea typeface="Montserrat"/>
                <a:cs typeface="Montserrat"/>
                <a:sym typeface="Montserrat"/>
              </a:rPr>
              <a:t>SKU HUNTERS · AI NEW-PRODUCT STUDIO</a:t>
            </a:r>
            <a:endParaRPr lang="en-US" sz="2000"/>
          </a:p>
        </p:txBody>
      </p:sp>
      <p:sp>
        <p:nvSpPr>
          <p:cNvPr id="3" name="AutoShape 3"/>
          <p:cNvSpPr/>
          <p:nvPr/>
        </p:nvSpPr>
        <p:spPr>
          <a:xfrm>
            <a:off x="812800" y="2387600"/>
            <a:ext cx="1016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把爆款，从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3200400"/>
            <a:ext cx="8128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sngStrike">
                <a:solidFill>
                  <a:srgbClr val="968E8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「押注」</a:t>
            </a:r>
            <a:r>
              <a:rPr lang="en-US" sz="4800" b="1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变成「推演」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4572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0" i="0" u="none" strike="noStrike">
                <a:solidFill>
                  <a:srgbClr val="C8C0B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让创意有据可依，让成败可以复盘，让经验长在组织里。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5384800"/>
            <a:ext cx="812800" cy="38100"/>
          </a:xfrm>
          <a:prstGeom prst="roundRect">
            <a:avLst>
              <a:gd name="adj" fmla="val 0"/>
            </a:avLst>
          </a:prstGeom>
          <a:solidFill>
            <a:srgbClr val="E632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56896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E2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南京大学 · 飞行社　|　SKU Hunters · AI 新品企划工作室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0" y="56642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A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3200"/>
          </a:p>
        </p:txBody>
      </p:sp>
    </p:spTree>
  </p:cSld>
  <p:clrMapOvr>
    <a:masterClrMapping/>
  </p:clrMapOvr>
  <p:transition advTm="11260"/>
</p:sld>
</file>

<file path=ppt/tags/tag1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2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3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4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5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6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7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8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9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10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11.xml><?xml version="1.0" encoding="utf-8"?>
<p:tagLst xmlns:p="http://schemas.openxmlformats.org/presentationml/2006/main">
  <p:tag name="KSO_WM_DIAGRAM_VIRTUALLY_FRAME" val="{&quot;height&quot;:146,&quot;left&quot;:60.00001734169318,&quot;top&quot;:306,&quot;width&quot;:840.0005952378735}"/>
</p:tagLst>
</file>

<file path=ppt/tags/tag12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3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4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5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6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7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8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19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20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21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22.xml><?xml version="1.0" encoding="utf-8"?>
<p:tagLst xmlns:p="http://schemas.openxmlformats.org/presentationml/2006/main">
  <p:tag name="KSO_WM_DIAGRAM_VIRTUALLY_FRAME" val="{&quot;height&quot;:220.00000936707602,&quot;left&quot;:410.9999838186466,&quot;top&quot;:199.999990632924,&quot;width&quot;:485.0000161813534}"/>
</p:tagLst>
</file>

<file path=ppt/tags/tag23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4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5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6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7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8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29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0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1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2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3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4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5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6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7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8.xml><?xml version="1.0" encoding="utf-8"?>
<p:tagLst xmlns:p="http://schemas.openxmlformats.org/presentationml/2006/main">
  <p:tag name="KSO_WM_DIAGRAM_VIRTUALLY_FRAME" val="{&quot;height&quot;:253.99993127135585,&quot;left&quot;:59.99999687564773,&quot;top&quot;:155.00006872864415,&quot;width&quot;:638.0000031243522}"/>
</p:tagLst>
</file>

<file path=ppt/tags/tag39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0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1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2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3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4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5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6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7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8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49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0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1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2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3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4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5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6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7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8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59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60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61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62.xml><?xml version="1.0" encoding="utf-8"?>
<p:tagLst xmlns:p="http://schemas.openxmlformats.org/presentationml/2006/main">
  <p:tag name="KSO_WM_DIAGRAM_VIRTUALLY_FRAME" val="{&quot;height&quot;:136,&quot;left&quot;:50,&quot;top&quot;:196,&quot;width&quot;:860}"/>
</p:tagLst>
</file>

<file path=ppt/tags/tag63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4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5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6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7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8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69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0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1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2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3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4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5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6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7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8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79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80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81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82.xml><?xml version="1.0" encoding="utf-8"?>
<p:tagLst xmlns:p="http://schemas.openxmlformats.org/presentationml/2006/main">
  <p:tag name="KSO_WM_DIAGRAM_VIRTUALLY_FRAME" val="{&quot;height&quot;:251.5,&quot;left&quot;:492,&quot;top&quot;:195.5,&quot;width&quot;:398}"/>
</p:tagLst>
</file>

<file path=ppt/tags/tag83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4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5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6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7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8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89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0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1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2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3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4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5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6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7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8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99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100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101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102.xml><?xml version="1.0" encoding="utf-8"?>
<p:tagLst xmlns:p="http://schemas.openxmlformats.org/presentationml/2006/main">
  <p:tag name="KSO_WM_DIAGRAM_VIRTUALLY_FRAME" val="{&quot;height&quot;:286,&quot;left&quot;:56,&quot;top&quot;:150,&quot;width&quot;:844}"/>
</p:tagLst>
</file>

<file path=ppt/tags/tag103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4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5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6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7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8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09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0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1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2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3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4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5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6.xml><?xml version="1.0" encoding="utf-8"?>
<p:tagLst xmlns:p="http://schemas.openxmlformats.org/presentationml/2006/main">
  <p:tag name="KSO_WM_DIAGRAM_VIRTUALLY_FRAME" val="{&quot;height&quot;:282,&quot;left&quot;:56,&quot;top&quot;:146,&quot;width&quot;:848}"/>
</p:tagLst>
</file>

<file path=ppt/tags/tag117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18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19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0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1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2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3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4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5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6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7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8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29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0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1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2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3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4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5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6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7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8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39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0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1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2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3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4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5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6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7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8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49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50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51.xml><?xml version="1.0" encoding="utf-8"?>
<p:tagLst xmlns:p="http://schemas.openxmlformats.org/presentationml/2006/main">
  <p:tag name="KSO_WM_DIAGRAM_VIRTUALLY_FRAME" val="{&quot;height&quot;:316,&quot;left&quot;:56,&quot;top&quot;:152,&quot;width&quot;:848}"/>
</p:tagLst>
</file>

<file path=ppt/tags/tag152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3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4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5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6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7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8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59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60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61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62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ags/tag163.xml><?xml version="1.0" encoding="utf-8"?>
<p:tagLst xmlns:p="http://schemas.openxmlformats.org/presentationml/2006/main">
  <p:tag name="KSO_WM_DIAGRAM_VIRTUALLY_FRAME" val="{&quot;height&quot;:288,&quot;left&quot;:56,&quot;top&quot;:150,&quot;width&quot;:44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3706</Words>
  <Application>WPS 演示</Application>
  <PresentationFormat/>
  <Paragraphs>480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Montserrat</vt:lpstr>
      <vt:lpstr>FFont-Family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22</cp:revision>
  <dcterms:created xsi:type="dcterms:W3CDTF">2026-09-17T12:13:00Z</dcterms:created>
  <dcterms:modified xsi:type="dcterms:W3CDTF">2026-09-19T00:40:35Z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E65B85F4B6124020A5B41C84416CFDD7_13</vt:lpwstr>
  </property>
</Properties>
</file>